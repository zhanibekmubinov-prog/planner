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показа: чтобы коллеги начали пользоваться. Главный аргумент — задача заводится голосом за секунды, поэтому её реально заводят.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у зала: у кого за последний месяц терялось поручение? Это разогрев.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структуру можно не строить заранее. Одно направление и десять задач — уже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тот экран, ради которого всё делалось: как начальник я вижу, какое направление упускаю.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живьём: перетащить задачу и создать новую через «+». Это занимает 5 секунд и снимает половину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Чеклист и перенос задач между проектами — предложения Нурсултана. Сказать об этом: идеи внедряются за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 для руководителей: сводка показывает только то, что поручали 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Практика: без срока планнер напомнить не может. Просить коллег ставить срок всегда.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Сводка настраивается: время, каналы, только по будням.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главный страх: «мои задачи увидят все». Нет — по умолчанию видно только своё.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Показывать коротко — это приятный бонус, не главное. Главное дальше: голос.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можно спросить: какие таблицы у вас стоило бы привязать? Это готовая работа для агентов.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живьём со своего телефона: вкладки внизу, «⋯» на карточке, карточка задачи. И сразу предложить всем поставить иконку на домашний экран.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сменить темп. Дальше — самая сильная часть показа; лучше показать живьём с телефона.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Живая демонстрация: сказать эту фразу в приложении Claude и показать созданную задачу на экране.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этот слайд как памятку — он же есть в docs/MCP_CONNECTOR.md.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тот трюк, который убеждает сильнее всего: одна фраза — две системы. Показать вживую, если есть связь.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адрес коннектора после показа. Помочь подключить сразу в зале — это 2 минуты на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про безопасность данных: всё внутри корпоративных учёток Microsoft, доступ выдаётся вручную.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Договориться на встрече: у каждого к пятнице — свои направления и 5 задач со сроками.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попросить замечания сразу после показа — так и появились проекты и чеклист.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9601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07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 · ВНУТРЕННИЙ ИНСТРУМЕНТ · V1.0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 Planner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432304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C07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планнер, который слушает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20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Направления, проекты, задачи и поручения в одном месте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всё это можно вести голосом через Claude,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открывая ни одной вкладки.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417320"/>
            <a:ext cx="3840480" cy="3063240"/>
          </a:xfrm>
          <a:prstGeom prst="rect">
            <a:avLst/>
          </a:prstGeom>
          <a:solidFill>
            <a:srgbClr val="2C2822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1417320"/>
            <a:ext cx="3840480" cy="3063240"/>
          </a:xfrm>
          <a:prstGeom prst="rect">
            <a:avLst/>
          </a:prstGeom>
          <a:solidFill>
            <a:srgbClr val="2C2822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28432" y="16824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9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АДРЕС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6642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D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cis-planner.up.railway.app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028432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9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1214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D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рабочая учётка @cis.kz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28432" y="2596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9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КАНАЛЫ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5786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D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 · почта · календарь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3054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9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0358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7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команд голосом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3511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9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ТЕЛЕФОН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34930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D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иконка на домашнем экране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028432" y="39684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9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ВЕРСИЯ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9502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D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· сентябрь 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892040"/>
            <a:ext cx="11057839" cy="9144"/>
          </a:xfrm>
          <a:prstGeom prst="rect">
            <a:avLst/>
          </a:prstGeom>
          <a:solidFill>
            <a:srgbClr val="4A42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коллег · сентябрь 2026 · Жанибек Мубинов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967167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C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слайд · 13 минут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Поручение живёт ровно до того момента, пока его помнят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145536" cy="137160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167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414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Сказали в коридоре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74320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есть, следа нет. Через неделю спорим, кто что обещал.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68496" y="1965960"/>
            <a:ext cx="3145536" cy="137160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187952" y="2167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87952" y="24414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Написали в чат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274320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Ушло вверх на 200 сообщений. Ни срока, ни ответственного.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566160"/>
            <a:ext cx="3145536" cy="137160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6384" y="3767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0416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Завели в свой файл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434340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свой Excel. Руководитель не видит картину.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68496" y="3566160"/>
            <a:ext cx="3145536" cy="137160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187952" y="3767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87952" y="40416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Заводить в системе долго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187952" y="434340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откроешь и заполнишь — проще запомнить. И забыть.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89520" y="1965960"/>
            <a:ext cx="4023360" cy="320040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63840" y="22128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ДЕЛАЕТ ПЛАННЕР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256032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«Одна фраза голосом с телефона — и задача уже в системе: с направлением, сроком, исполнителем и напоминанием. Дальше она сама себя напоминает.»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863840" y="4343400"/>
            <a:ext cx="3474720" cy="9144"/>
          </a:xfrm>
          <a:prstGeom prst="rect">
            <a:avLst/>
          </a:prstGeom>
          <a:solidFill>
            <a:srgbClr val="C6BDA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0" y="4498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Планнер сам пишет в Telegram, на почту и в календарь Outlook — второй жизни в чатах не нужно.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СТРУКТУРА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уровня — и ничего лишнего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«чем я вообще занимаюсь» до «кто именно это делает к четвергу». Каждый уровень необязателен: задача может лежать прямо в направлении или вообще без него.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2587752" cy="233172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560320"/>
            <a:ext cx="2148840" cy="50292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УРОВЕНЬ 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9626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Направление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364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Крупный кусок работы: Закуп, ГРП, Ремонты, Обучение. У каждого свой цвет — он виден на всех карточках.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32004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BD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4136" y="2331720"/>
            <a:ext cx="2587752" cy="233172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2560320"/>
            <a:ext cx="2148840" cy="50292"/>
          </a:xfrm>
          <a:prstGeom prst="rect">
            <a:avLst/>
          </a:prstGeom>
          <a:solidFill>
            <a:srgbClr val="5B7A9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93592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УРОВЕНЬ 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9626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364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Кампания внутри направления: «Фрезы из Китая», «ТО парка на зиму». Со своей целью и статистикой.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80176" y="32004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BD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81344" y="2331720"/>
            <a:ext cx="2587752" cy="233172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560320"/>
            <a:ext cx="2148840" cy="50292"/>
          </a:xfrm>
          <a:prstGeom prst="rect">
            <a:avLst/>
          </a:prstGeom>
          <a:solidFill>
            <a:srgbClr val="A973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УРОВЕНЬ 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9626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364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делается: статус, срок, приоритет, чеклист, тулы. Может относиться к двум направлениям сразу.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787384" y="32004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BD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988552" y="2331720"/>
            <a:ext cx="2587752" cy="233172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08008" y="2560320"/>
            <a:ext cx="2148840" cy="50292"/>
          </a:xfrm>
          <a:prstGeom prst="rect">
            <a:avLst/>
          </a:prstGeom>
          <a:solidFill>
            <a:srgbClr val="4D6A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08008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УРОВЕНЬ 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9208008" y="29626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Поручение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08008" y="3364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отданная человеку, с датой проверки. Он пишет отчёт — вам приходит «пора проверить».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9834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 без проекта → блок «Без проекта»          Задача без направления → раздел «Без направления»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СТАРТОВЫЙ ЭКРАН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Первое, что видно, — что вы упускаете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675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НАПРАВЛЕНИЙ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6163056" cy="82296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532888"/>
            <a:ext cx="100584" cy="100584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0432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Закуп и снабжение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87568" y="2478024"/>
            <a:ext cx="114300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9A3B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24144" y="2491740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УПУЩЕНО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70432" y="2770632"/>
            <a:ext cx="2834640" cy="6858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0432" y="2770632"/>
            <a:ext cx="2211019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0432" y="28986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работе 4 · ожидание 3 · готово 11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2770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движения 9 дней · 2 просрочки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291840"/>
            <a:ext cx="6163056" cy="82296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3493008"/>
            <a:ext cx="100584" cy="100584"/>
          </a:xfrm>
          <a:prstGeom prst="rect">
            <a:avLst/>
          </a:prstGeom>
          <a:solidFill>
            <a:srgbClr val="A973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0432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ГРП · сервис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87568" y="3438144"/>
            <a:ext cx="114300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A973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24144" y="3451860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73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ОСЛАБЛО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70432" y="3730752"/>
            <a:ext cx="2834640" cy="6858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0432" y="3730752"/>
            <a:ext cx="1303934" cy="68580"/>
          </a:xfrm>
          <a:prstGeom prst="rect">
            <a:avLst/>
          </a:prstGeom>
          <a:solidFill>
            <a:srgbClr val="A973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70432" y="3858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работе 6 · ожидание 1 · готово 20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315968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Последнее движение — вчера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" y="4251960"/>
            <a:ext cx="6163056" cy="82296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" y="4453128"/>
            <a:ext cx="100584" cy="100584"/>
          </a:xfrm>
          <a:prstGeom prst="rect">
            <a:avLst/>
          </a:prstGeom>
          <a:solidFill>
            <a:srgbClr val="4D6A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70432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Ремонты и ТО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87568" y="4398264"/>
            <a:ext cx="114300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4D6A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24144" y="4411980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6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ФОКУСЕ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70432" y="4690872"/>
            <a:ext cx="2834640" cy="6858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31" name="Shape 29"/>
          <p:cNvSpPr/>
          <p:nvPr/>
        </p:nvSpPr>
        <p:spPr>
          <a:xfrm>
            <a:off x="1170432" y="4690872"/>
            <a:ext cx="510235" cy="68580"/>
          </a:xfrm>
          <a:prstGeom prst="rect">
            <a:avLst/>
          </a:prstGeom>
          <a:solidFill>
            <a:srgbClr val="4D6A3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70432" y="48188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работе 3 · готово 8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315968" y="4690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Всё в сроках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35240" y="198424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36408" y="188366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Планнер сам считает «долг внимания»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7836408" y="21351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без движения, просрочки, дата последней правки → метка направления.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289864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836408" y="279806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фокусе · Норма · Ослабло · Упущено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836408" y="30495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с одного экрана, куда идти в первую очередь.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35240" y="381304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836408" y="371246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состава задач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7836408" y="39639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понятно: направление стоит в ожидании или движется.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35240" y="472744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836408" y="462686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Пометка «открыто мне»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7836408" y="48783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коллег, к которым вам дали доступ, помечены отдельно.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РАБОТА С ЗАДАЧАМИ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Доска проекта: четыре колонки, перетаскивание, фильтры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9037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75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Закуп  ›  Фрезы из Китая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41648" y="2011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 12   В работе 4   Ожидание 3   Готово 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4672" y="2331720"/>
            <a:ext cx="1536192" cy="283464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947672" y="2404872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77824" y="2651760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651760"/>
            <a:ext cx="32004" cy="67665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" y="27157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Запросить чертежи переходников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10896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Нурсултан · 12.09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77824" y="3438144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3438144"/>
            <a:ext cx="32004" cy="67665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" y="350215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Сравнить три КП по фрезам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38953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1/4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4279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задача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32304" y="2331720"/>
            <a:ext cx="1536192" cy="283464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23744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575304" y="2404872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05456" y="2651760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05456" y="2651760"/>
            <a:ext cx="32004" cy="67665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96896" y="27157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Согласовать спецификацию 178 мм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96896" y="310896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Айда · до 09.09 · 3/5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05456" y="3438144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05456" y="3438144"/>
            <a:ext cx="32004" cy="676656"/>
          </a:xfrm>
          <a:prstGeom prst="rect">
            <a:avLst/>
          </a:prstGeom>
          <a:solidFill>
            <a:srgbClr val="5B7A9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596896" y="350215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 сроки у завода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2596896" y="38953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15.09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059936" y="2331720"/>
            <a:ext cx="1536192" cy="283464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51376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Ожидание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202936" y="2404872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33088" y="2651760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33088" y="2651760"/>
            <a:ext cx="32004" cy="676656"/>
          </a:xfrm>
          <a:prstGeom prst="rect">
            <a:avLst/>
          </a:prstGeom>
          <a:solidFill>
            <a:srgbClr val="A9731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224528" y="27157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 счёта 4412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224528" y="310896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финансы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133088" y="3438144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33088" y="3438144"/>
            <a:ext cx="32004" cy="67665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24528" y="350215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по сертификатам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224528" y="38953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просрочено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87568" y="2331720"/>
            <a:ext cx="1536192" cy="283464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779008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830568" y="2404872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60720" y="2651760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2651760"/>
            <a:ext cx="32004" cy="676656"/>
          </a:xfrm>
          <a:prstGeom prst="rect">
            <a:avLst/>
          </a:prstGeom>
          <a:solidFill>
            <a:srgbClr val="4D6A3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852160" y="27157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ТЗ на фрезерные насадки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852160" y="310896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6/6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760720" y="3438144"/>
            <a:ext cx="138988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3438144"/>
            <a:ext cx="32004" cy="676656"/>
          </a:xfrm>
          <a:prstGeom prst="rect">
            <a:avLst/>
          </a:prstGeom>
          <a:solidFill>
            <a:srgbClr val="4D6A3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852160" y="350215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поставщиков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852160" y="38953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закрыто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726680" y="19385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927848" y="18379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меняется перетаскиванием</a:t>
            </a:r>
            <a:endParaRPr lang="en-US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7927848" y="20894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Взяли карточку, перенесли в «В работе» — всё, никаких форм.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726680" y="28529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927848" y="2752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«+» создаёт задачу в этой колонке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7927848" y="30038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Ввели название, Enter — следующая. Без окон браузера.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726680" y="37673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927848" y="36667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чеклиста 3/5 на карточке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7927848" y="39182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готовность, не открывая задачу. Зелёный, когда всё.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726680" y="46817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927848" y="45811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направления — сквозной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7927848" y="48326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Рейка на карточке говорит, из какого направления задача.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КАРТОЧКА ЗАДАЧИ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про задачу — в одном окне, и оно само сохраняется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9037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Согласовать спецификацию фрез 178 мм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 просит подтвердить резьбу и длину переходника. Сверить с чертежом из папки «Фрезы 2026», после согласования отдать в закуп.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ЧЕКЛИСТ  3/5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04288" y="3108960"/>
            <a:ext cx="1097280" cy="68580"/>
          </a:xfrm>
          <a:prstGeom prst="rect">
            <a:avLst/>
          </a:prstGeom>
          <a:solidFill>
            <a:srgbClr val="EBE4D5"/>
          </a:solidFill>
          <a:ln/>
        </p:spPr>
      </p:sp>
      <p:sp>
        <p:nvSpPr>
          <p:cNvPr id="10" name="Shape 8"/>
          <p:cNvSpPr/>
          <p:nvPr/>
        </p:nvSpPr>
        <p:spPr>
          <a:xfrm>
            <a:off x="2304288" y="3108960"/>
            <a:ext cx="658368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346704"/>
            <a:ext cx="137160" cy="137160"/>
          </a:xfrm>
          <a:prstGeom prst="rect">
            <a:avLst/>
          </a:prstGeom>
          <a:solidFill>
            <a:srgbClr val="4D6A37"/>
          </a:solidFill>
          <a:ln w="9525">
            <a:solidFill>
              <a:srgbClr val="4D6A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2384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33101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Запросить чертёж у завода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137160" cy="137160"/>
          </a:xfrm>
          <a:prstGeom prst="rect">
            <a:avLst/>
          </a:prstGeom>
          <a:solidFill>
            <a:srgbClr val="4D6A37"/>
          </a:solidFill>
          <a:ln w="9525">
            <a:solidFill>
              <a:srgbClr val="4D6A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634740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36210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резьбу с ГОСТ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37160" cy="137160"/>
          </a:xfrm>
          <a:prstGeom prst="rect">
            <a:avLst/>
          </a:prstGeom>
          <a:solidFill>
            <a:srgbClr val="4D6A37"/>
          </a:solidFill>
          <a:ln w="9525">
            <a:solidFill>
              <a:srgbClr val="4D6A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94563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39319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Уточнить длину переходника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279392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" y="4242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с механиками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590288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2416" y="4553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Отдать в закуп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1768" y="1920240"/>
            <a:ext cx="9144" cy="3246120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84648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НАПРАВЛЕНИЕ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184648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 и снабжение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2459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ПРОЕКТ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26243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Фрезы из Китая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184648" y="2907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ИСПОЛНИТЕЛЬ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5184648" y="30723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Айда · проверить 09.09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184648" y="3355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СРОК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184648" y="3520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09.09.2026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184648" y="3803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НАПОМИНАНИЕ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3968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08.09 · 09:00 · Telegram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184648" y="4251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КОМУ НАПОМНИТЬ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184648" y="4416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/ исполнителю / обоим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184648" y="4700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ТУЛЫ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184648" y="4864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«Фрезы 2026»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26680" y="19385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27848" y="18379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внутри задачи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7927848" y="20894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Пункты с галочками и прогрессом. Ввели пункт — Enter — следующий.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26680" y="28529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27848" y="2752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Автосохранение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927848" y="30038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нажимаем. Закрыли окно на полуслове — текст сохранён.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26680" y="37673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927848" y="36667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двойной правки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7927848" y="39182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Поменял коллега параллельно — планнер предупредит, а не затрёт.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726680" y="46817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927848" y="45811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окон браузера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927848" y="48326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Подтверждения свои, фокус на «Отмена». Enter ничего не удалит.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ПОРУЧЕНИЯ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Поручили — и планнер сам напомнит проверить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Поручение — это не «переназначил и забыл». У него есть дата проверки, отчёт исполнителя и напоминание тому, кто поручил.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529584" cy="150876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42316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3500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исполнителя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752344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появляется в разделе «Мне поручено» и приходит одно уведомление «Вам поручено» — в Telegram или на почту.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148840"/>
            <a:ext cx="3529584" cy="150876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2316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64024" y="23500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поручившего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52344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дату проверки приходит «Пора проверить у Айды: спецификация фрез». Держать это в голове не нужно.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529584" cy="150876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42316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3500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вместо переписки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752344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 меняет статус и пишет отчёт прямо в поручении — автор видит его в задаче.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931920"/>
            <a:ext cx="5486400" cy="169164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" y="4133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СВОДКА ПО ЧЕЛОВЕКУ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407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18/23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8097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4407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48097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вовремя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4407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401568" y="48097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просрочки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00016" y="4407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 дн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700016" y="48097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срок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120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Считается по тому, что поручали именно вы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3931920"/>
            <a:ext cx="5394960" cy="169164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55664" y="4133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СВОДКА ПО КОМАНДЕ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455664" y="4407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— и видно, у кого что горит: «кто не справляется», «что просрочено», «что сегодня». В браузере — раздел «Люди», голосом — одной фразой Claude.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55664" y="51206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своё и порученное ему — не всю базу.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НАПОМИНАНИЯ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канала — вы выбираете, какой доходит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669280" cy="1042416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05740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1984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Telegram-бот планнера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386584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быстрый канал. Один раз написали боту /start — и он знает, кому писать.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53512"/>
            <a:ext cx="5669280" cy="1042416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227832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8408" y="3154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Почта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557016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с рабочего ящика и ссылкой прямо на задачу.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23944"/>
            <a:ext cx="5669280" cy="1042416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" y="4398264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8408" y="4325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Календарь Outlook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4727448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на 30 минут в вашем календаре — задача становится встречей с собой.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349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Напоминаний на задаче может быть несколько, у каждого свой адресат: мне · исполнителю · обоим. Повторное напоминание обновляет то же событие в календаре, а не плодит копии.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21424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 Planner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2029968"/>
            <a:ext cx="54864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C6BD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06256" y="2043684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БОТ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20299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08:59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821424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Пора проверить у Айды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21424" y="2743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Согласовать спецификацию фрез 178 мм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Закуп и снабжение › Фрезы из Китая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33101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Срок 09.09 · чеклист 3/5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35478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 исполнителя: «Ждём подтверждение резьбы»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21424" y="3886200"/>
            <a:ext cx="448056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21424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открыть задачу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КАЖДОЕ УТРО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Сводка в 08:30, до первого совещания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46504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Просроченное — первым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9796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список всего, а то, что требует решения сегодня.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2679192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надо открывать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930652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Прочитали в машине — уже знаете, с чего начать день.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712464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611880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с провалом внимания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8633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Планнер сам подскажет: «Закуп» без движения 9 дней.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645152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4544568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попросить в любой момент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79602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Голосом Claude: «что у меня сегодня» — сводка придёт сразу.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52120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56832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Утренняя сводка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20299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08:30 · пн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2359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Просрочено: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724912"/>
            <a:ext cx="54864" cy="54864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26700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по сертификатам — 4 дня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2999232"/>
            <a:ext cx="54864" cy="54864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29443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Оплата счёта 4412 — ожидание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3273552"/>
            <a:ext cx="54864" cy="54864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32186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Акт по ремонту ЦА-320 — 1 день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сегодня: 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4023360"/>
            <a:ext cx="54864" cy="54864"/>
          </a:xfrm>
          <a:prstGeom prst="rect">
            <a:avLst/>
          </a:prstGeom>
          <a:solidFill>
            <a:srgbClr val="C6BDA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396849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Согласовать спецификацию фрез · Айда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4297680"/>
            <a:ext cx="54864" cy="54864"/>
          </a:xfrm>
          <a:prstGeom prst="rect">
            <a:avLst/>
          </a:prstGeom>
          <a:solidFill>
            <a:srgbClr val="C6BDA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242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Проверить сроки поставки · 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0" y="4572000"/>
            <a:ext cx="54864" cy="54864"/>
          </a:xfrm>
          <a:prstGeom prst="rect">
            <a:avLst/>
          </a:prstGeom>
          <a:solidFill>
            <a:srgbClr val="C6BDA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0" y="45171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Позвонить по фрезам · 10:00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56832" y="4864608"/>
            <a:ext cx="4700016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56832" y="5029200"/>
            <a:ext cx="4700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Внимание: «Закуп» — без движения 9 дней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ВМЕСТЕ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1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выдаётся точечно: направление, проект или задача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«общая база на всех». Вы сами решаете, что открыть коллеге и на каком праве — смотреть или редактировать. Приглашение по рабочей почте, даже если человек ещё ни разу не заходил.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51206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⇄ ПОДЕЛИТЬСЯ · «ФРЕЗЫ ИЗ КИТАЯ»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4672" y="2743200"/>
            <a:ext cx="4645152" cy="512064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816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Нурсултан Ж.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26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n.zh@cis.kz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95928" y="2907792"/>
            <a:ext cx="128016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C6BD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32504" y="2921508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редактировать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04672" y="3346704"/>
            <a:ext cx="4645152" cy="512064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" y="3419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Айда К.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3630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a.k@cis.kz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95928" y="3511296"/>
            <a:ext cx="128016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C6BDA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32504" y="3525012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смотреть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" y="3950208"/>
            <a:ext cx="4645152" cy="512064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Нурлан Б.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233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n.b@cis.kz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95928" y="4114800"/>
            <a:ext cx="1280160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C6BDA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32504" y="4128516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редактировать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4406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Кому открыли — получает «⇄ Вам открыли …» со ссылкой на нужный экран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35000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7648" y="2249424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 сверху вниз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250088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Открыли направление — открылись его проекты и задачи. Открыли проект — только он.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26440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27648" y="3163824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только-просмотр честный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341528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заблокированы, шапка подсвечена. Ничего нельзя сломать случайно.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17880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27648" y="4078224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 не уводит вашу задачу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432968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созданная коллегой в вашем направлении, остаётся вашей.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509320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27648" y="4992624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«Общие»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327648" y="524408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открыли мне — отдельным списком, по людям. Отозвать доступ — один клик.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ДУМАТЬ, А НЕ ТОЛЬКО ВЕСТИ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Майндмапы — там же, где задачи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92224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задача ещё не задача, а мысль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043684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Пишете узлы — планнер сам раскладывает ветки.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825496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272491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раздел и внутри задач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976372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направления своя карта, у задачи своя. Второй инструмент не нужен.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758184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657600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клавиатура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90906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— сосед, Tab — вложенный узел. Мысль не успевает остыть.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690872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459028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узел превращается в задачу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841748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из списка пожеланий: карта сразу становится планом.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53035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246120"/>
            <a:ext cx="1828800" cy="45720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Сезон ГРП 2027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2103120"/>
            <a:ext cx="2194560" cy="457200"/>
          </a:xfrm>
          <a:prstGeom prst="rect">
            <a:avLst/>
          </a:prstGeom>
          <a:solidFill>
            <a:srgbClr val="FBF9F4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3728" y="2221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и обучение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331720"/>
            <a:ext cx="365760" cy="0"/>
          </a:xfrm>
          <a:prstGeom prst="line">
            <a:avLst/>
          </a:prstGeom>
          <a:noFill/>
          <a:ln w="12700">
            <a:solidFill>
              <a:srgbClr val="C6BD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solidFill>
            <a:srgbClr val="FBF9F4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3728" y="2999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ЗИП и склад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78240" y="3108960"/>
            <a:ext cx="365760" cy="0"/>
          </a:xfrm>
          <a:prstGeom prst="line">
            <a:avLst/>
          </a:prstGeom>
          <a:noFill/>
          <a:ln w="12700">
            <a:solidFill>
              <a:srgbClr val="C6BD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3657600"/>
            <a:ext cx="2194560" cy="457200"/>
          </a:xfrm>
          <a:prstGeom prst="rect">
            <a:avLst/>
          </a:prstGeom>
          <a:solidFill>
            <a:srgbClr val="FBF9F4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3728" y="3776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и ТО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0" y="3886200"/>
            <a:ext cx="365760" cy="0"/>
          </a:xfrm>
          <a:prstGeom prst="line">
            <a:avLst/>
          </a:prstGeom>
          <a:noFill/>
          <a:ln w="12700">
            <a:solidFill>
              <a:srgbClr val="C6BD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4434840"/>
            <a:ext cx="2194560" cy="457200"/>
          </a:xfrm>
          <a:prstGeom prst="rect">
            <a:avLst/>
          </a:prstGeom>
          <a:solidFill>
            <a:srgbClr val="FBF9F4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53728" y="4553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допуски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78240" y="4663440"/>
            <a:ext cx="365760" cy="0"/>
          </a:xfrm>
          <a:prstGeom prst="line">
            <a:avLst/>
          </a:prstGeom>
          <a:noFill/>
          <a:ln w="12700">
            <a:solidFill>
              <a:srgbClr val="C6BD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474720"/>
            <a:ext cx="365760" cy="0"/>
          </a:xfrm>
          <a:prstGeom prst="line">
            <a:avLst/>
          </a:prstGeom>
          <a:noFill/>
          <a:ln w="12700">
            <a:solidFill>
              <a:srgbClr val="C6BD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0" y="2331720"/>
            <a:ext cx="0" cy="2331720"/>
          </a:xfrm>
          <a:prstGeom prst="line">
            <a:avLst/>
          </a:prstGeom>
          <a:noFill/>
          <a:ln w="12700">
            <a:solidFill>
              <a:srgbClr val="C6BDA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ТУЛЫ · КОРЗИНА · АРХИВ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Инструменты, которыми вы и так пользуетесь — привязаны к задачам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29584" cy="192024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24028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216712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Тулы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69464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Google-таблица, файл в SharePoint, Telegram-бот, страница Notion — привязываются к задаче и направлению. Больше не нужно искать «где та таблица».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529584" cy="192024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4028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024" y="216712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Корзина, 30 дней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9464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Удалённое не исчезает: направление, проект и задача уходят в корзину и восстанавливаются. Сразу после удаления — кнопка «Отменить».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29584" cy="192024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7616" y="224028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216712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Архив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569464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Завершённое направление или проект не удаляем — отправляем в архив. Одна кнопка «Вернуть», если тема ожила.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11057839" cy="1371600"/>
          </a:xfrm>
          <a:prstGeom prst="rect">
            <a:avLst/>
          </a:prstGeom>
          <a:solidFill>
            <a:srgbClr val="EBE4D5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4370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ЗАДЕЛ НА СЛЕДУЮЩИЙ ШАГ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645152"/>
            <a:ext cx="10509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тула хранится точка входа — id таблицы, адрес бота. Это сделано под агентов контроля: агент сам заглянет в таблицу ЛВД или реестр ТО, сверит с задачами и напишет, где отстаём. Данные для этого в модели уже есть.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ТЕЛЕФОН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телефоне это приложение, а не уменьшенный сайт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адрес сам перестраивается под узкий экран: внизу четыре вкладки, доска — одной колонкой, карточка задачи — на весь экран. Ставится на домашний экран и открывается без адресной строки.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2432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523744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вкладки внизу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775204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· Задачи · Поручено (с числом) · Ещё. «Ещё» открывает шторку со всеми направлениями, проектами, Архивом и Корзиной.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3300984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в одну колонку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552444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вкладки статусов, открывается сразу на «В работе» — то, чем вы заняты сейчас.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17880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4078224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меняется через «⋯»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4329684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карточке: «→ Бэклог / → Ожидание / → Готово». Перетаскивать пальцем не нужно.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956048"/>
            <a:ext cx="68580" cy="68580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4855464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задачи на весь экран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5106924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проект, приоритет и срок — сразу под названием, без прокрутки вбок.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783080"/>
            <a:ext cx="2103120" cy="3931920"/>
          </a:xfrm>
          <a:prstGeom prst="roundRect">
            <a:avLst>
              <a:gd name="adj" fmla="val 6087"/>
            </a:avLst>
          </a:prstGeom>
          <a:solidFill>
            <a:srgbClr val="2B2721"/>
          </a:solidFill>
          <a:ln/>
        </p:spPr>
      </p:sp>
      <p:sp>
        <p:nvSpPr>
          <p:cNvPr id="19" name="Shape 17"/>
          <p:cNvSpPr/>
          <p:nvPr/>
        </p:nvSpPr>
        <p:spPr>
          <a:xfrm>
            <a:off x="7388352" y="1920240"/>
            <a:ext cx="1865376" cy="3657600"/>
          </a:xfrm>
          <a:prstGeom prst="roundRect">
            <a:avLst>
              <a:gd name="adj" fmla="val 4902"/>
            </a:avLst>
          </a:prstGeom>
          <a:solidFill>
            <a:srgbClr val="F3EF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20665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Фрезы из Китая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522208" y="2057400"/>
            <a:ext cx="603504" cy="182880"/>
          </a:xfrm>
          <a:prstGeom prst="rect">
            <a:avLst/>
          </a:prstGeom>
          <a:solidFill>
            <a:srgbClr val="EBE4D5"/>
          </a:solidFill>
          <a:ln w="6350">
            <a:solidFill>
              <a:srgbClr val="C6BDA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58784" y="207111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ЗАДАЧА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3042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Новые 3   В работе 4   Ожидание 3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8010144" y="2468880"/>
            <a:ext cx="402336" cy="18288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2578608"/>
            <a:ext cx="16459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2578608"/>
            <a:ext cx="27432" cy="49377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89520" y="26334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Согласовать спецификацию 178 мм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288950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Айда · до 09.09 · 3/5</a:t>
            </a:r>
            <a:endParaRPr lang="en-US" sz="6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⋯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98080" y="3145536"/>
            <a:ext cx="16459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3145536"/>
            <a:ext cx="27432" cy="493776"/>
          </a:xfrm>
          <a:prstGeom prst="rect">
            <a:avLst/>
          </a:prstGeom>
          <a:solidFill>
            <a:srgbClr val="5B7A9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89520" y="32004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 сроки поставки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34564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15.09</a:t>
            </a:r>
            <a:endParaRPr lang="en-US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32918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⋯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3712464"/>
            <a:ext cx="16459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712464"/>
            <a:ext cx="27432" cy="493776"/>
          </a:xfrm>
          <a:prstGeom prst="rect">
            <a:avLst/>
          </a:prstGeom>
          <a:solidFill>
            <a:srgbClr val="A9731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89520" y="37673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 счёта 4412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40233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финансы</a:t>
            </a:r>
            <a:endParaRPr lang="en-US" sz="6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⋯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0" y="5029200"/>
            <a:ext cx="164592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98080" y="51389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600" dirty="0"/>
          </a:p>
        </p:txBody>
      </p:sp>
      <p:sp>
        <p:nvSpPr>
          <p:cNvPr id="42" name="Text 40"/>
          <p:cNvSpPr txBox="1"/>
          <p:nvPr/>
        </p:nvSpPr>
        <p:spPr>
          <a:xfrm>
            <a:off x="7909560" y="51389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60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51389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Поручено</a:t>
            </a:r>
            <a:endParaRPr lang="en-US" sz="600" dirty="0"/>
          </a:p>
        </p:txBody>
      </p:sp>
      <p:sp>
        <p:nvSpPr>
          <p:cNvPr id="44" name="Text 42"/>
          <p:cNvSpPr txBox="1"/>
          <p:nvPr/>
        </p:nvSpPr>
        <p:spPr>
          <a:xfrm>
            <a:off x="8732520" y="51389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9692640" y="1783080"/>
            <a:ext cx="1920240" cy="3931920"/>
          </a:xfrm>
          <a:prstGeom prst="rect">
            <a:avLst/>
          </a:prstGeom>
          <a:solidFill>
            <a:srgbClr val="EBE4D5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9893808" y="1993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ДОМАШНИЙ ЭКРАН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9893808" y="22860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9893808" y="2505456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→ «Поделиться» → «На экран „Домой“»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893808" y="3520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9893808" y="3739896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→ меню «⋮» → «Добавить на главный экран»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893808" y="480060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Появится иконка CIS Planner — приложение на весь экран, без адресной строки.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4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9FB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ВТОРОЕ ПЕРО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1188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 — самое интересное: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планнером можно вообще не пользоваться руками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204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Планнер подключается к Claude как коннектор. После этого вести задачи можно разговором — в браузере, в приложении на компьютере и голосом с телефона.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434840"/>
            <a:ext cx="11057839" cy="9144"/>
          </a:xfrm>
          <a:prstGeom prst="rect">
            <a:avLst/>
          </a:prstGeom>
          <a:solidFill>
            <a:srgbClr val="4E6B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30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 планнера доступно Claude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74136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74136" y="5230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кнопок, если говорите голосом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9816" y="4663440"/>
            <a:ext cx="9144" cy="1005840"/>
          </a:xfrm>
          <a:prstGeom prst="rect">
            <a:avLst/>
          </a:prstGeom>
          <a:solidFill>
            <a:srgbClr val="4E6B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5230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завёл коллега голосом за первый день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7024" y="4663440"/>
            <a:ext cx="9144" cy="1005840"/>
          </a:xfrm>
          <a:prstGeom prst="rect">
            <a:avLst/>
          </a:prstGeom>
          <a:solidFill>
            <a:srgbClr val="4E6B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88552" y="4663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@cis.kz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5230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подключает от своего имени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14232" y="4663440"/>
            <a:ext cx="9144" cy="1005840"/>
          </a:xfrm>
          <a:prstGeom prst="rect">
            <a:avLst/>
          </a:prstGeom>
          <a:solidFill>
            <a:srgbClr val="4E6B7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КОННЕКТОР CLAUDE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Разговор вместо формы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говорите обычными словами. Claude сам находит направление, проект и человека, переводит «в пятницу» в дату и подтверждает одной фразой — что создано, где, к какому сроку и на кого.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EBE4D5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🎙 ГОЛОСОМ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0545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«Запиши: поручи Нурсултану собрать КП на фрезы к пятнице, направление закуп, и напомни мне проверить в четверг утром.»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" y="3246120"/>
            <a:ext cx="6035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43584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243584" y="360273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Готово. Задача «Собрать КП на фрезы» — направление «Закуп», проект «Фрезы из Китая», срок 11.09, поручено Нурсултану, проверка 10.09 в 09:00. Напоминание вам — 10.09, Telegram.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4128" y="4370832"/>
            <a:ext cx="6035040" cy="1051560"/>
          </a:xfrm>
          <a:prstGeom prst="rect">
            <a:avLst/>
          </a:prstGeom>
          <a:solidFill>
            <a:srgbClr val="EBE4D5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25296" y="4517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create_task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45171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«Собрать КП на фрезы» · Закуп · 11.09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delegate_task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807208" y="48097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Нурсултан · проверить 10.09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5102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add_reminder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807208" y="51023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55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10.09 09:00 · telegram · мне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0" y="2258568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16368" y="215798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знать названия точно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409444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«закуп», «по фрезам», «Нурсултану» — ищет по части названия и уточнит при нескольких вариантах.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154680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16368" y="30540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 по-человечески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3305556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«завтра», «в пятницу», «к концу месяца», «напомни в 10» — переводит сам.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050792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16368" y="3950208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подтверждение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4201668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фразой: что создано, где, срок, кому. Вы слышите результат.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4946904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16368" y="484632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Удалять через Claude нельзя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509778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Намеренно: только «выполнено», пауза, архив. Голосом ничего не потеряется.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СЛОВАРЬ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 просто сказать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18196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ЗАПИСЬ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039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«Запиши: заказать манифольд, срок вторник»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27448" y="2075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create_task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27648" y="1691640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28816" y="18196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ПОРУЧЕНИЕ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2039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«Поручи Айде акт по ЦА-320, проверю в среду»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488168" y="2075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delegate_task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" y="2660904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СРОК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008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«Поставь дедлайн на пятницу по спецификации»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449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update_task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27648" y="2660904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28816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ЧЕКЛИСТ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008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«Добавь в задачу пункты: чертёж, резьба, длина»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488168" y="30449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add_checklist_items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" y="3630168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8096" y="37581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СТАТУС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3977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«Возьми в работу спецификацию» · «отметь выполненным»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27448" y="4014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set_task_status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27648" y="3630168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28816" y="37581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СВОДКА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3977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«Что у меня сегодня?» · «Что по ГРП?»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88168" y="4014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get_overview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" y="4599432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68096" y="47274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ЛЮДИ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4946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«Как дела у Нурсултана?» · «Кто не справляется?»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727448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get_person_report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27648" y="4599432"/>
            <a:ext cx="5486400" cy="841248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28816" y="47274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ДОСТУП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528816" y="4946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«Дай Нурлану доступ к проекту по фрезам»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488168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share_access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6235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набор — 25 команд: направления, проекты, задачи, поручения, люди, тулы, напоминания, сводки, доступ. Всё, что можно нажать в браузере, кроме удаления.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ТЕЛЕФОН · ГОЛОС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фраза — и в планнер, и в заметки телефона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на телефоне слушает и сам раскладывает сказанное по местам: рабочее поручение уходит в планнер задачей, черновая мысль — в заметки на телефоне. Руки заняты, вы в поле или за рулём — говорите, разберёт он.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688336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Нажали микрофон в приложении Claude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39796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открывая: ни планнер, ни заметки.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657600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3557016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Сказали как думаете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808476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потоком: и задачу, и список размеров, и «напомни».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526280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4425696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разложил и подтвердил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4677156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— в планнер со сроком и исполнителем, список — в заметки. Вы услышали, что куда легло.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5257800"/>
            <a:ext cx="6583680" cy="822960"/>
          </a:xfrm>
          <a:prstGeom prst="rect">
            <a:avLst/>
          </a:prstGeom>
          <a:solidFill>
            <a:srgbClr val="EBE4D5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" y="54498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и наоборот: «прочитай мои заметки по фрезам и заведи из них задачи» — Claude заберёт черновик и превратит его в задачи с чеклистом.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18120" y="1600200"/>
            <a:ext cx="3566160" cy="4114800"/>
          </a:xfrm>
          <a:prstGeom prst="roundRect">
            <a:avLst>
              <a:gd name="adj" fmla="val 3590"/>
            </a:avLst>
          </a:prstGeom>
          <a:solidFill>
            <a:srgbClr val="2B2721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3568" y="1783080"/>
            <a:ext cx="3255264" cy="3749040"/>
          </a:xfrm>
          <a:prstGeom prst="roundRect">
            <a:avLst>
              <a:gd name="adj" fmla="val 2809"/>
            </a:avLst>
          </a:prstGeom>
          <a:solidFill>
            <a:srgbClr val="F3EFE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56448" y="1965960"/>
            <a:ext cx="2889504" cy="868680"/>
          </a:xfrm>
          <a:prstGeom prst="roundRect">
            <a:avLst>
              <a:gd name="adj" fmla="val 10526"/>
            </a:avLst>
          </a:prstGeom>
          <a:solidFill>
            <a:srgbClr val="EBE4D5"/>
          </a:solidFill>
          <a:ln w="9525">
            <a:solidFill>
              <a:srgbClr val="C6BD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20665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🎙 ГОЛОСОМ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26771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«Завтра к десяти позвонить по фрезам — запиши в планнер. И в заметки телефона добавь размеры: 178, 152, 143.»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56448" y="2944368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02752" y="3044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Записал. Обе записи готовы: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520440"/>
            <a:ext cx="28895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3648456"/>
            <a:ext cx="201168" cy="201168"/>
          </a:xfrm>
          <a:prstGeom prst="ellipse">
            <a:avLst/>
          </a:prstGeom>
          <a:solidFill>
            <a:srgbClr val="4D6A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365302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558784" y="36393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 PLANNER · ЗАКУП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558784" y="38313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Позвонить по фрезам · 08.09, 10:00 · напоминание в Telegram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56448" y="4389120"/>
            <a:ext cx="28895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517136"/>
            <a:ext cx="201168" cy="201168"/>
          </a:xfrm>
          <a:prstGeom prst="ellipse">
            <a:avLst/>
          </a:prstGeom>
          <a:solidFill>
            <a:srgbClr val="5B7A9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52170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558784" y="4507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ЗАМЕТКИ НА ТЕЛЕФОНЕ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8558784" y="47000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Фрезы — размеры: 178, 152, 143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ПОДКЛЮЧЕНИЕ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Подключается один раз, как CIS Platform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уже подключали коннектор CIS Platform — здесь то же самое. Вход через рабочую учётную запись Microsoft: никаких паролей и общих токенов, каждый работает от своего имени и видит только своё.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Добавить коннектор в Claude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5054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сервера даст Jack — одна строка в настройках коннекторов.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80944"/>
            <a:ext cx="566928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081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063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Войти учёткой @cis.kz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37413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обычный вход Microsoft, затем страница согласия планнера.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849624"/>
            <a:ext cx="566928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Нажать «Разрешить»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2428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Всё. Claude в браузере, на компьютере и в телефоне ведёт ваш планнер.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718304"/>
            <a:ext cx="566928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818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800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Включить Telegram в профиле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511149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→ «Подключить Telegram» → в боте «Запустить». Чат привяжется сам, chat id искать не нужно.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194560"/>
            <a:ext cx="4937760" cy="397764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31152" y="2395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ВИДИТ CLAUDE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31152" y="2807208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2706624"/>
            <a:ext cx="4233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ваши данные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95808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Своё, порученное вам и то, чем с вами поделились — как в браузере.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31152" y="3630168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0" y="3529584"/>
            <a:ext cx="4233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помечаются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78104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журнале видно, что сделано через Claude, а что руками.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31152" y="4453128"/>
            <a:ext cx="68580" cy="68580"/>
          </a:xfrm>
          <a:prstGeom prst="rect">
            <a:avLst/>
          </a:prstGeom>
          <a:solidFill>
            <a:srgbClr val="2640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0" y="4352544"/>
            <a:ext cx="4233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нельзя удалить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60400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Инструмента удаления просто нет.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31152" y="5047488"/>
            <a:ext cx="443484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31152" y="51389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добавьте памятку в личные настройки Claude — тогда «запиши», «поручи», «напомни» он сразу понимает как команды планнеру.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55961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D8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коннектор работает и в ChatGPT — но только текстом: голосовой режим ChatGPT коннекторы не поддерживает.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ПРАВА И НАДЁЖНОСТЬ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 данные — свои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04104" cy="109728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10312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202996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 только @cis.kz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3230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учётная запись Microsoft. Паролей в системе нет вообще: заводить нечего и терять нечего.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04104" cy="109728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210312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2996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Видимость — только своё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43230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направления и задачи не видит никто, пока вы сами не поделились. Порученное вам приходит в «Мне поручено».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5404104" cy="109728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" y="342900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8408" y="335584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Удаление обратимо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7581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30 дней, «Отменить» сразу после удаления, подтверждение вводом названия для непустого направления.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154680"/>
            <a:ext cx="5404104" cy="109728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3429000"/>
            <a:ext cx="82296" cy="82296"/>
          </a:xfrm>
          <a:prstGeom prst="rect">
            <a:avLst/>
          </a:prstGeom>
          <a:solidFill>
            <a:srgbClr val="9A3B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335584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Внешние — по приглашению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7581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Подрядчика или заказчика добавляет только администратор: он входит по своей почте и паролю, доступ закрывается одной кнопкой.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526280"/>
            <a:ext cx="5404104" cy="141732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4672" y="4718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ПРОВЕРЕНО, А НЕ «ВРОДЕ РАБОТАЕТ»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99262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этой версией планнер прошёл отдельное «злое» ревью: искали, как его сломать или потерять данные. Найденное закрыто и закреплено автотестами — 208 тестов прогоняются перед каждым изменением.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404104" cy="1417320"/>
          </a:xfrm>
          <a:prstGeom prst="rect">
            <a:avLst/>
          </a:prstGeom>
          <a:solidFill>
            <a:srgbClr val="FBF9F4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55664" y="4718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МЕЛОЧИ, КОТОРЫЕ ВАЖНЫ В РАБОТЕ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499262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в диалоге удаления ничего не удаляет · правка карточки не теряется при закрытии · страница не перезагружается посреди ввода после обновления · правая кнопка мыши открывает меню именно той карточки, на которой вы стоите.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ПЯТЬ МИНУТ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начать сегодня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Откройте cis-planner.up.railway.app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0939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Войдите учёткой @cis.kz, пароль не нужен. На телефоне сразу поставьте на домашний экран — иконка CIS Planner.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624328"/>
            <a:ext cx="603504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734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15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Заведите 2–3 своих направления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0266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больше: то, чем вы правда занимаетесь. Цвет выберите сразу — по нему всё узнаётся.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557016"/>
            <a:ext cx="603504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666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648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Перенесите то, что горит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959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Пять–десять задач из головы и чатов. Со сроками — иначе напоминать нечего.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489704"/>
            <a:ext cx="6035040" cy="9144"/>
          </a:xfrm>
          <a:prstGeom prst="rect">
            <a:avLst/>
          </a:prstGeom>
          <a:solidFill>
            <a:srgbClr val="D8D0B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599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3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5811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2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Подключите Claude и Telegram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Коннектор — один раз в настройках Claude; Telegram — кнопкой «Подключить Telegram» в профиле.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783080"/>
            <a:ext cx="4663440" cy="3749040"/>
          </a:xfrm>
          <a:prstGeom prst="rect">
            <a:avLst/>
          </a:prstGeom>
          <a:solidFill>
            <a:srgbClr val="EBE4D5"/>
          </a:solidFill>
          <a:ln w="9525">
            <a:solidFill>
              <a:srgbClr val="D8D0BE"/>
            </a:solidFill>
            <a:prstDash val="solid"/>
          </a:ln>
          <a:effectLst>
            <a:outerShdw sx="100000" sy="100000" kx="0" ky="0" algn="bl" rotWithShape="0" blurRad="127000" dist="25400" dir="5400000">
              <a:srgbClr val="221F1A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87184" y="1993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8D8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НЕ НАДО ДЕЛАТЬ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35915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2340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направлений «на всякий»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26151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внимания перестанет работать: всё покажется упущенным.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87184" y="336499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без сроков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61504" y="36210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срока планнер не напомнит — задача снова живёт только в памяти.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87184" y="437083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61504" y="4352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Дублировать в свой Excel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61504" y="46268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D5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таблица — привяжите её как тул к задаче, а не ведите вторую жизнь.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9777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7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ДАЛЬШЕ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436047" y="365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84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Половина того, что вы видели, придумали коллеги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373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Проекты внутри направлений, чеклист в задаче, перенос задач перетаскиванием — это предложения сотрудников, сделанные за пару дней после первого показа. Планнер растёт с той скоростью, с какой приходят замечания.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3529584" cy="1783080"/>
          </a:xfrm>
          <a:prstGeom prst="rect">
            <a:avLst/>
          </a:prstGeom>
          <a:solidFill>
            <a:srgbClr val="2C2822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871216"/>
            <a:ext cx="82296" cy="82296"/>
          </a:xfrm>
          <a:prstGeom prst="rect">
            <a:avLst/>
          </a:prstGeom>
          <a:solidFill>
            <a:srgbClr val="C070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79806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Агенты контроля тулов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4015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DA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читает таблицу ЛВД или реестр ТО и сам сообщает, где отстаём.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606040"/>
            <a:ext cx="3529584" cy="1783080"/>
          </a:xfrm>
          <a:prstGeom prst="rect">
            <a:avLst/>
          </a:prstGeom>
          <a:solidFill>
            <a:srgbClr val="2C2822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71216"/>
            <a:ext cx="82296" cy="82296"/>
          </a:xfrm>
          <a:prstGeom prst="rect">
            <a:avLst/>
          </a:prstGeom>
          <a:solidFill>
            <a:srgbClr val="C070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82312" y="279806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«руководитель / команда»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4015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DA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руководитель видел поручения отдела, а не только свои.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529584" cy="1783080"/>
          </a:xfrm>
          <a:prstGeom prst="rect">
            <a:avLst/>
          </a:prstGeom>
          <a:solidFill>
            <a:srgbClr val="2C2822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871216"/>
            <a:ext cx="82296" cy="82296"/>
          </a:xfrm>
          <a:prstGeom prst="rect">
            <a:avLst/>
          </a:prstGeom>
          <a:solidFill>
            <a:srgbClr val="C070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67928" y="279806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Мелочи по вашим просьбам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4015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DA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чеклиста → задача, перестановка пунктов, приложение под телефон.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17720"/>
            <a:ext cx="11057839" cy="9144"/>
          </a:xfrm>
          <a:prstGeom prst="rect">
            <a:avLst/>
          </a:prstGeom>
          <a:solidFill>
            <a:srgbClr val="4A42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48280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07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«Лучшая задача — та, которую вы завели, не отрываясь от дела.»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23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Замечания и идеи — Жанибеку Мубинову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052767" y="5623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C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cis-planner.up.railway.app · v1.0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Caspian Integrated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Planner для команды</dc:title>
  <dc:subject>PptxGenJS Presentation</dc:subject>
  <dc:creator>Zhanibek Mubinov</dc:creator>
  <cp:lastModifiedBy>Zhanibek Mubinov</cp:lastModifiedBy>
  <cp:revision>1</cp:revision>
  <dcterms:created xsi:type="dcterms:W3CDTF">2026-09-07T12:22:39Z</dcterms:created>
  <dcterms:modified xsi:type="dcterms:W3CDTF">2026-09-07T12:22:39Z</dcterms:modified>
</cp:coreProperties>
</file>